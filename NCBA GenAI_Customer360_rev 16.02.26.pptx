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61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352"/>
    <p:restoredTop sz="94610"/>
  </p:normalViewPr>
  <p:slideViewPr>
    <p:cSldViewPr snapToGrid="0" snapToObjects="1">
      <p:cViewPr varScale="1">
        <p:scale>
          <a:sx n="119" d="100"/>
          <a:sy n="119" d="100"/>
        </p:scale>
        <p:origin x="216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9734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196" b="196"/>
          <a:stretch/>
        </p:blipFill>
        <p:spPr>
          <a:xfrm>
            <a:off x="10551262" y="152705"/>
            <a:ext cx="1419149" cy="38130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228600" y="647395"/>
            <a:ext cx="11734495" cy="2438705"/>
          </a:xfrm>
          <a:prstGeom prst="roundRect">
            <a:avLst>
              <a:gd name="adj" fmla="val 87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rcRect t="31500" b="31500"/>
          <a:stretch/>
        </p:blipFill>
        <p:spPr>
          <a:xfrm>
            <a:off x="237744" y="657454"/>
            <a:ext cx="11716207" cy="2419502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228600" y="4272077"/>
            <a:ext cx="95098" cy="95098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437998" y="4129430"/>
            <a:ext cx="826983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NCBA Bank | GenAI Customer 360 Copilot</a:t>
            </a:r>
            <a:endParaRPr lang="en-US" sz="2800" dirty="0"/>
          </a:p>
        </p:txBody>
      </p:sp>
      <p:sp>
        <p:nvSpPr>
          <p:cNvPr id="8" name="Text 4"/>
          <p:cNvSpPr txBox="1"/>
          <p:nvPr/>
        </p:nvSpPr>
        <p:spPr>
          <a:xfrm>
            <a:off x="437998" y="4625035"/>
            <a:ext cx="118497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Enhancing customer experience and unlocking horizontal revenue from existing clients.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37998" y="5084533"/>
            <a:ext cx="10848372" cy="239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 </a:t>
            </a:r>
            <a:r>
              <a:rPr lang="en-US" sz="1000" dirty="0" err="1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Lume</a:t>
            </a:r>
            <a:r>
              <a:rPr lang="en-US" sz="1000" dirty="0">
                <a:solidFill>
                  <a:srgbClr val="37415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Advisory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28600" y="6124651"/>
            <a:ext cx="11734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228600" y="6248095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 info@lumeadvisory.africa</a:t>
            </a:r>
            <a:endParaRPr lang="en-US" sz="1000" dirty="0"/>
          </a:p>
        </p:txBody>
      </p:sp>
      <p:sp>
        <p:nvSpPr>
          <p:cNvPr id="12" name="Text 8"/>
          <p:cNvSpPr txBox="1"/>
          <p:nvPr/>
        </p:nvSpPr>
        <p:spPr>
          <a:xfrm>
            <a:off x="10005365" y="6248095"/>
            <a:ext cx="23189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Web: www.lumeadvisory.africa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298" y="12489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 txBox="1"/>
          <p:nvPr/>
        </p:nvSpPr>
        <p:spPr>
          <a:xfrm>
            <a:off x="409650" y="836368"/>
            <a:ext cx="3583615" cy="54529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Vision..</a:t>
            </a:r>
            <a:endParaRPr lang="en-US" sz="20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rcRect t="196" b="196"/>
          <a:stretch/>
        </p:blipFill>
        <p:spPr>
          <a:xfrm>
            <a:off x="10551262" y="152705"/>
            <a:ext cx="1419149" cy="3813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28600" y="1561795"/>
            <a:ext cx="2819095" cy="2763317"/>
          </a:xfrm>
          <a:prstGeom prst="roundRect">
            <a:avLst>
              <a:gd name="adj" fmla="val 65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rcRect t="-392" b="-392"/>
          <a:stretch/>
        </p:blipFill>
        <p:spPr>
          <a:xfrm>
            <a:off x="237744" y="1571854"/>
            <a:ext cx="2800807" cy="57607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251460" y="1628546"/>
            <a:ext cx="2800807" cy="381305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390449" y="1705356"/>
            <a:ext cx="2595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Problem</a:t>
            </a:r>
            <a:endParaRPr lang="en-US" dirty="0"/>
          </a:p>
        </p:txBody>
      </p:sp>
      <p:sp>
        <p:nvSpPr>
          <p:cNvPr id="10" name="Shape 6"/>
          <p:cNvSpPr/>
          <p:nvPr/>
        </p:nvSpPr>
        <p:spPr>
          <a:xfrm>
            <a:off x="390449" y="2200046"/>
            <a:ext cx="47549" cy="57607"/>
          </a:xfrm>
          <a:prstGeom prst="roundRect">
            <a:avLst>
              <a:gd name="adj" fmla="val 1923069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510235" y="2124151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Fragmented data across core, CRM, and channels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390449" y="2657246"/>
            <a:ext cx="47549" cy="57607"/>
          </a:xfrm>
          <a:prstGeom prst="roundRect">
            <a:avLst>
              <a:gd name="adj" fmla="val 1923069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507492" y="2581351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Limited frontline visibility; missed cross‑sell/retention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390449" y="3114446"/>
            <a:ext cx="38405" cy="57607"/>
          </a:xfrm>
          <a:prstGeom prst="roundRect">
            <a:avLst>
              <a:gd name="adj" fmla="val 2380940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503834" y="3038551"/>
            <a:ext cx="24670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scripts; longer handling time; compliance risk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3200400" y="1561795"/>
            <a:ext cx="2819095" cy="2754173"/>
          </a:xfrm>
          <a:prstGeom prst="roundRect">
            <a:avLst>
              <a:gd name="adj" fmla="val 65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rcRect t="-392" b="-392"/>
          <a:stretch/>
        </p:blipFill>
        <p:spPr>
          <a:xfrm>
            <a:off x="3209544" y="1571854"/>
            <a:ext cx="2800807" cy="57607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3209544" y="1628546"/>
            <a:ext cx="2800807" cy="381305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3362249" y="1705356"/>
            <a:ext cx="2595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dirty="0"/>
          </a:p>
        </p:txBody>
      </p:sp>
      <p:sp>
        <p:nvSpPr>
          <p:cNvPr id="20" name="Shape 15"/>
          <p:cNvSpPr/>
          <p:nvPr/>
        </p:nvSpPr>
        <p:spPr>
          <a:xfrm>
            <a:off x="3362249" y="2200046"/>
            <a:ext cx="47549" cy="57607"/>
          </a:xfrm>
          <a:prstGeom prst="roundRect">
            <a:avLst>
              <a:gd name="adj" fmla="val 1923069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6"/>
          <p:cNvSpPr txBox="1"/>
          <p:nvPr/>
        </p:nvSpPr>
        <p:spPr>
          <a:xfrm>
            <a:off x="3477463" y="2124151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AI‑powered Customer 360 Copilot for every interaction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362249" y="2657246"/>
            <a:ext cx="38405" cy="57607"/>
          </a:xfrm>
          <a:prstGeom prst="roundRect">
            <a:avLst>
              <a:gd name="adj" fmla="val 2380940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3476549" y="2581351"/>
            <a:ext cx="24670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360 snapshot, likely needs, next‑best‑actions, talk‑tracks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3362249" y="3114446"/>
            <a:ext cx="47549" cy="57607"/>
          </a:xfrm>
          <a:prstGeom prst="roundRect">
            <a:avLst>
              <a:gd name="adj" fmla="val 1923069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3478378" y="3038551"/>
            <a:ext cx="245790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Human‑in‑the‑loop with actions logged for auditability</a:t>
            </a:r>
            <a:endParaRPr lang="en-US" sz="1400" dirty="0"/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206130B2-5C9A-8E19-59D7-9FC2AB93323E}"/>
              </a:ext>
            </a:extLst>
          </p:cNvPr>
          <p:cNvGrpSpPr/>
          <p:nvPr/>
        </p:nvGrpSpPr>
        <p:grpSpPr>
          <a:xfrm>
            <a:off x="6032297" y="1583428"/>
            <a:ext cx="2819095" cy="2754173"/>
            <a:chOff x="6172200" y="647395"/>
            <a:chExt cx="2819095" cy="2754173"/>
          </a:xfrm>
        </p:grpSpPr>
        <p:sp>
          <p:nvSpPr>
            <p:cNvPr id="26" name="Shape 21"/>
            <p:cNvSpPr/>
            <p:nvPr/>
          </p:nvSpPr>
          <p:spPr>
            <a:xfrm>
              <a:off x="6172200" y="647395"/>
              <a:ext cx="2819095" cy="2754173"/>
            </a:xfrm>
            <a:prstGeom prst="roundRect">
              <a:avLst>
                <a:gd name="adj" fmla="val 657"/>
              </a:avLst>
            </a:prstGeom>
            <a:noFill/>
            <a:ln w="12700">
              <a:solidFill>
                <a:srgbClr val="E5E7EB"/>
              </a:solidFill>
              <a:prstDash val="solid"/>
            </a:ln>
          </p:spPr>
        </p:sp>
        <p:pic>
          <p:nvPicPr>
            <p:cNvPr id="27" name="Image 3" descr="preencoded.png"/>
            <p:cNvPicPr>
              <a:picLocks noChangeAspect="1"/>
            </p:cNvPicPr>
            <p:nvPr/>
          </p:nvPicPr>
          <p:blipFill>
            <a:blip r:embed="rId4"/>
            <a:srcRect t="-392" b="-392"/>
            <a:stretch/>
          </p:blipFill>
          <p:spPr>
            <a:xfrm>
              <a:off x="6181344" y="657454"/>
              <a:ext cx="2800807" cy="57607"/>
            </a:xfrm>
            <a:prstGeom prst="rect">
              <a:avLst/>
            </a:prstGeom>
          </p:spPr>
        </p:pic>
        <p:sp>
          <p:nvSpPr>
            <p:cNvPr id="28" name="Shape 22"/>
            <p:cNvSpPr/>
            <p:nvPr/>
          </p:nvSpPr>
          <p:spPr>
            <a:xfrm>
              <a:off x="6181344" y="714146"/>
              <a:ext cx="2800807" cy="381305"/>
            </a:xfrm>
            <a:prstGeom prst="rect">
              <a:avLst/>
            </a:prstGeom>
            <a:solidFill>
              <a:srgbClr val="F3F4F6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29" name="Text 23"/>
            <p:cNvSpPr txBox="1"/>
            <p:nvPr/>
          </p:nvSpPr>
          <p:spPr>
            <a:xfrm>
              <a:off x="6334049" y="790956"/>
              <a:ext cx="2595982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b="1" dirty="0">
                  <a:solidFill>
                    <a:srgbClr val="000000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Why Now</a:t>
              </a:r>
              <a:endParaRPr lang="en-US" dirty="0"/>
            </a:p>
          </p:txBody>
        </p:sp>
        <p:sp>
          <p:nvSpPr>
            <p:cNvPr id="30" name="Shape 24"/>
            <p:cNvSpPr/>
            <p:nvPr/>
          </p:nvSpPr>
          <p:spPr>
            <a:xfrm>
              <a:off x="6334049" y="1285646"/>
              <a:ext cx="38405" cy="57607"/>
            </a:xfrm>
            <a:prstGeom prst="roundRect">
              <a:avLst>
                <a:gd name="adj" fmla="val 2380940"/>
              </a:avLst>
            </a:prstGeom>
            <a:solidFill>
              <a:srgbClr val="45F00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1" name="Text 25"/>
            <p:cNvSpPr txBox="1"/>
            <p:nvPr/>
          </p:nvSpPr>
          <p:spPr>
            <a:xfrm>
              <a:off x="6446520" y="1209751"/>
              <a:ext cx="2467051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827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GenAI maturity (RAG + guardrails) enables safe frontline use</a:t>
              </a:r>
              <a:endParaRPr lang="en-US" sz="1400" dirty="0"/>
            </a:p>
          </p:txBody>
        </p:sp>
        <p:sp>
          <p:nvSpPr>
            <p:cNvPr id="32" name="Shape 26"/>
            <p:cNvSpPr/>
            <p:nvPr/>
          </p:nvSpPr>
          <p:spPr>
            <a:xfrm>
              <a:off x="6334049" y="1742846"/>
              <a:ext cx="38405" cy="57607"/>
            </a:xfrm>
            <a:prstGeom prst="roundRect">
              <a:avLst>
                <a:gd name="adj" fmla="val 2380940"/>
              </a:avLst>
            </a:prstGeom>
            <a:solidFill>
              <a:srgbClr val="45F00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3" name="Text 27"/>
            <p:cNvSpPr txBox="1"/>
            <p:nvPr/>
          </p:nvSpPr>
          <p:spPr>
            <a:xfrm>
              <a:off x="6448349" y="1666951"/>
              <a:ext cx="2467051" cy="38130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827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Margin pressure + rising expectations for personalization</a:t>
              </a:r>
              <a:endParaRPr lang="en-US" sz="1400" dirty="0"/>
            </a:p>
          </p:txBody>
        </p:sp>
        <p:sp>
          <p:nvSpPr>
            <p:cNvPr id="34" name="Shape 28"/>
            <p:cNvSpPr/>
            <p:nvPr/>
          </p:nvSpPr>
          <p:spPr>
            <a:xfrm>
              <a:off x="6334049" y="2200046"/>
              <a:ext cx="38405" cy="57607"/>
            </a:xfrm>
            <a:prstGeom prst="roundRect">
              <a:avLst>
                <a:gd name="adj" fmla="val 2380940"/>
              </a:avLst>
            </a:prstGeom>
            <a:solidFill>
              <a:srgbClr val="45F000"/>
            </a:solidFill>
            <a:ln w="12700">
              <a:solidFill>
                <a:srgbClr val="FFFFFF">
                  <a:alpha val="0"/>
                </a:srgbClr>
              </a:solidFill>
              <a:prstDash val="solid"/>
            </a:ln>
          </p:spPr>
        </p:sp>
        <p:sp>
          <p:nvSpPr>
            <p:cNvPr id="35" name="Text 29"/>
            <p:cNvSpPr txBox="1"/>
            <p:nvPr/>
          </p:nvSpPr>
          <p:spPr>
            <a:xfrm>
              <a:off x="6447434" y="2124151"/>
              <a:ext cx="2467051" cy="51377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400" dirty="0">
                  <a:solidFill>
                    <a:srgbClr val="111827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Productivity and cost‑to‑serve improvement opportunities</a:t>
              </a:r>
              <a:endParaRPr lang="en-US" sz="1400" dirty="0"/>
            </a:p>
          </p:txBody>
        </p:sp>
      </p:grpSp>
      <p:sp>
        <p:nvSpPr>
          <p:cNvPr id="36" name="Shape 30"/>
          <p:cNvSpPr/>
          <p:nvPr/>
        </p:nvSpPr>
        <p:spPr>
          <a:xfrm>
            <a:off x="8933689" y="1574146"/>
            <a:ext cx="2819095" cy="2763317"/>
          </a:xfrm>
          <a:prstGeom prst="roundRect">
            <a:avLst>
              <a:gd name="adj" fmla="val 65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4"/>
          <a:srcRect t="-392" b="-392"/>
          <a:stretch/>
        </p:blipFill>
        <p:spPr>
          <a:xfrm>
            <a:off x="8942833" y="1584205"/>
            <a:ext cx="2800807" cy="57607"/>
          </a:xfrm>
          <a:prstGeom prst="rect">
            <a:avLst/>
          </a:prstGeom>
        </p:spPr>
      </p:pic>
      <p:sp>
        <p:nvSpPr>
          <p:cNvPr id="38" name="Shape 31"/>
          <p:cNvSpPr/>
          <p:nvPr/>
        </p:nvSpPr>
        <p:spPr>
          <a:xfrm>
            <a:off x="8942833" y="1640897"/>
            <a:ext cx="2800807" cy="381305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2"/>
          <p:cNvSpPr txBox="1"/>
          <p:nvPr/>
        </p:nvSpPr>
        <p:spPr>
          <a:xfrm>
            <a:off x="9095538" y="1717707"/>
            <a:ext cx="25959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What’s Different</a:t>
            </a:r>
            <a:endParaRPr lang="en-US" dirty="0"/>
          </a:p>
        </p:txBody>
      </p:sp>
      <p:sp>
        <p:nvSpPr>
          <p:cNvPr id="40" name="Shape 33"/>
          <p:cNvSpPr/>
          <p:nvPr/>
        </p:nvSpPr>
        <p:spPr>
          <a:xfrm>
            <a:off x="9095538" y="2212397"/>
            <a:ext cx="38405" cy="57607"/>
          </a:xfrm>
          <a:prstGeom prst="roundRect">
            <a:avLst>
              <a:gd name="adj" fmla="val 2380940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4"/>
          <p:cNvSpPr txBox="1"/>
          <p:nvPr/>
        </p:nvSpPr>
        <p:spPr>
          <a:xfrm>
            <a:off x="9208009" y="2136502"/>
            <a:ext cx="24670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Human‑in‑the‑loop design; measurable impact from day one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9095538" y="2669597"/>
            <a:ext cx="38405" cy="57607"/>
          </a:xfrm>
          <a:prstGeom prst="roundRect">
            <a:avLst>
              <a:gd name="adj" fmla="val 2380940"/>
            </a:avLst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9209838" y="2593702"/>
            <a:ext cx="24670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Bank‑grade governance (consent, PII minimization, audit)</a:t>
            </a:r>
            <a:endParaRPr lang="en-US" sz="1400" dirty="0"/>
          </a:p>
        </p:txBody>
      </p:sp>
      <p:sp>
        <p:nvSpPr>
          <p:cNvPr id="44" name="Shape 37"/>
          <p:cNvSpPr/>
          <p:nvPr/>
        </p:nvSpPr>
        <p:spPr>
          <a:xfrm>
            <a:off x="9095538" y="3126797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9228126" y="3050902"/>
            <a:ext cx="244876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8–12 week discovery‑to‑pilot pathway</a:t>
            </a:r>
            <a:endParaRPr lang="en-US" sz="1400" dirty="0"/>
          </a:p>
        </p:txBody>
      </p:sp>
      <p:sp>
        <p:nvSpPr>
          <p:cNvPr id="46" name="Shape 39"/>
          <p:cNvSpPr/>
          <p:nvPr/>
        </p:nvSpPr>
        <p:spPr>
          <a:xfrm>
            <a:off x="228600" y="6467551"/>
            <a:ext cx="11734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94F230D-FDE8-6A47-A6EB-017D5159FDE6}"/>
              </a:ext>
            </a:extLst>
          </p:cNvPr>
          <p:cNvSpPr txBox="1"/>
          <p:nvPr/>
        </p:nvSpPr>
        <p:spPr>
          <a:xfrm>
            <a:off x="251460" y="4836089"/>
            <a:ext cx="11501324" cy="369332"/>
          </a:xfrm>
          <a:prstGeom prst="rect">
            <a:avLst/>
          </a:prstGeom>
          <a:solidFill>
            <a:srgbClr val="00FA00">
              <a:alpha val="88000"/>
            </a:srgb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i="1" dirty="0"/>
              <a:t>Agentic Banking Intelligence is the future of banking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00507" y="152705"/>
            <a:ext cx="421172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Journey..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28600" y="761695"/>
            <a:ext cx="4800600" cy="5514746"/>
          </a:xfrm>
          <a:prstGeom prst="roundRect">
            <a:avLst>
              <a:gd name="adj" fmla="val 22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rcRect l="25720" r="25720"/>
          <a:stretch/>
        </p:blipFill>
        <p:spPr>
          <a:xfrm>
            <a:off x="245973" y="532180"/>
            <a:ext cx="4781398" cy="54955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251399" y="495605"/>
            <a:ext cx="6715354" cy="1580998"/>
          </a:xfrm>
          <a:prstGeom prst="roundRect">
            <a:avLst>
              <a:gd name="adj" fmla="val 209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260543" y="504749"/>
            <a:ext cx="6696151" cy="381305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413248" y="666598"/>
            <a:ext cx="57607" cy="57607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46750" y="580644"/>
            <a:ext cx="1020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4‑Step flow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413248" y="1000354"/>
            <a:ext cx="209398" cy="209398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93715" y="1028700"/>
            <a:ext cx="13350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5699455" y="1000354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5699455" y="1190549"/>
            <a:ext cx="12865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Customer authenticates at counter (card/ID/phone)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39051" y="1000354"/>
            <a:ext cx="209398" cy="209398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107631" y="1028700"/>
            <a:ext cx="152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7324344" y="1000354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360 Snapshot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7324344" y="1190549"/>
            <a:ext cx="1286561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Products, balances, interactions, open cases, risk flags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8664854" y="1000354"/>
            <a:ext cx="209398" cy="209398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732520" y="1028700"/>
            <a:ext cx="1527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900" dirty="0"/>
          </a:p>
        </p:txBody>
      </p:sp>
      <p:sp>
        <p:nvSpPr>
          <p:cNvPr id="23" name="Text 20"/>
          <p:cNvSpPr txBox="1"/>
          <p:nvPr/>
        </p:nvSpPr>
        <p:spPr>
          <a:xfrm>
            <a:off x="8950147" y="1000354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Insight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8950147" y="1190549"/>
            <a:ext cx="1286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Next‑best‑actions + compliant talk‑tracks surface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0289743" y="1000354"/>
            <a:ext cx="209398" cy="209398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356494" y="1028700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75950" y="1000354"/>
            <a:ext cx="130576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Execute &amp; Log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10575950" y="1190549"/>
            <a:ext cx="1286561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verified, action taken, notes summarized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5251399" y="2229307"/>
            <a:ext cx="6715354" cy="1828800"/>
          </a:xfrm>
          <a:prstGeom prst="roundRect">
            <a:avLst>
              <a:gd name="adj" fmla="val 156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5260543" y="2238451"/>
            <a:ext cx="6696151" cy="381305"/>
          </a:xfrm>
          <a:prstGeom prst="rect">
            <a:avLst/>
          </a:prstGeom>
          <a:solidFill>
            <a:srgbClr val="F3F4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5413248" y="2400300"/>
            <a:ext cx="57607" cy="57607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5546749" y="2314346"/>
            <a:ext cx="2625243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recommendations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413248" y="2734056"/>
            <a:ext cx="2057400" cy="1200607"/>
          </a:xfrm>
          <a:prstGeom prst="roundRect">
            <a:avLst>
              <a:gd name="adj" fmla="val 3627"/>
            </a:avLst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5537606" y="2857500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Retention</a:t>
            </a:r>
            <a:endParaRPr lang="en-US" sz="1400" dirty="0"/>
          </a:p>
        </p:txBody>
      </p:sp>
      <p:sp>
        <p:nvSpPr>
          <p:cNvPr id="35" name="Text 32"/>
          <p:cNvSpPr txBox="1"/>
          <p:nvPr/>
        </p:nvSpPr>
        <p:spPr>
          <a:xfrm>
            <a:off x="5537606" y="3047695"/>
            <a:ext cx="188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High‑LTV client + recent complaint → goodwill fee reversal with retention script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580376" y="2734056"/>
            <a:ext cx="2057400" cy="1200607"/>
          </a:xfrm>
          <a:prstGeom prst="roundRect">
            <a:avLst>
              <a:gd name="adj" fmla="val 3627"/>
            </a:avLst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704734" y="2857500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</a:t>
            </a:r>
            <a:endParaRPr lang="en-US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7704734" y="3047695"/>
            <a:ext cx="1882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missed‑payment signals → proactive refinance/restructure offer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9748418" y="2734056"/>
            <a:ext cx="2057400" cy="1200607"/>
          </a:xfrm>
          <a:prstGeom prst="roundRect">
            <a:avLst>
              <a:gd name="adj" fmla="val 3627"/>
            </a:avLst>
          </a:prstGeom>
          <a:noFill/>
          <a:ln w="12700">
            <a:solidFill>
              <a:srgbClr val="F3F4F6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9871862" y="2857500"/>
            <a:ext cx="18864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Growth</a:t>
            </a:r>
            <a:endParaRPr lang="en-US" sz="1400" dirty="0"/>
          </a:p>
        </p:txBody>
      </p:sp>
      <p:sp>
        <p:nvSpPr>
          <p:cNvPr id="41" name="Text 38"/>
          <p:cNvSpPr txBox="1"/>
          <p:nvPr/>
        </p:nvSpPr>
        <p:spPr>
          <a:xfrm>
            <a:off x="9871862" y="3047695"/>
            <a:ext cx="1882750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Salary account holder → credit card + travel insurance bundle (pre‑approved limit)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5251399" y="4209898"/>
            <a:ext cx="6715354" cy="857707"/>
          </a:xfrm>
          <a:prstGeom prst="roundRect">
            <a:avLst>
              <a:gd name="adj" fmla="val 71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413248" y="4343400"/>
            <a:ext cx="95098" cy="95098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5585155" y="4295851"/>
            <a:ext cx="146304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&amp; trust</a:t>
            </a:r>
            <a:endParaRPr lang="en-US" sz="1400" dirty="0"/>
          </a:p>
        </p:txBody>
      </p:sp>
      <p:sp>
        <p:nvSpPr>
          <p:cNvPr id="45" name="Text 42"/>
          <p:cNvSpPr txBox="1"/>
          <p:nvPr/>
        </p:nvSpPr>
        <p:spPr>
          <a:xfrm>
            <a:off x="5413248" y="4562856"/>
            <a:ext cx="64675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Consent check • Role‑based access • Fair‑treatment guardrails • Full audit logs • Safe responses with human‑in‑the‑loop</a:t>
            </a:r>
            <a:endParaRPr lang="en-US" sz="1200" dirty="0"/>
          </a:p>
        </p:txBody>
      </p:sp>
      <p:sp>
        <p:nvSpPr>
          <p:cNvPr id="46" name="Shape 43"/>
          <p:cNvSpPr/>
          <p:nvPr/>
        </p:nvSpPr>
        <p:spPr>
          <a:xfrm>
            <a:off x="228600" y="6505956"/>
            <a:ext cx="11734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237744"/>
            <a:ext cx="95098" cy="95098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00507" y="152705"/>
            <a:ext cx="467715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Partner with </a:t>
            </a:r>
            <a:r>
              <a:rPr lang="en-US" sz="2000" b="1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Lume</a:t>
            </a:r>
            <a:r>
              <a:rPr lang="en-US" sz="20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Advisory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0981944" y="190195"/>
            <a:ext cx="107990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</a:t>
            </a:r>
            <a:r>
              <a:rPr lang="en-US" sz="1000" b="1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NCBA Bank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28600" y="495605"/>
            <a:ext cx="4800600" cy="5743346"/>
          </a:xfrm>
          <a:prstGeom prst="roundRect">
            <a:avLst>
              <a:gd name="adj" fmla="val 22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rcRect l="26689" r="26689"/>
          <a:stretch/>
        </p:blipFill>
        <p:spPr>
          <a:xfrm>
            <a:off x="237744" y="657453"/>
            <a:ext cx="4781398" cy="557143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251399" y="495605"/>
            <a:ext cx="3286354" cy="2162556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60543" y="504749"/>
            <a:ext cx="3267151" cy="61904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0" name="Shape 7"/>
          <p:cNvSpPr/>
          <p:nvPr/>
        </p:nvSpPr>
        <p:spPr>
          <a:xfrm>
            <a:off x="5260543" y="1114654"/>
            <a:ext cx="3267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45836" y="580644"/>
            <a:ext cx="2905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LumeAdvisory — Advisory &amp; Oversight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5546750" y="1238098"/>
            <a:ext cx="156179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Assessment &amp; readiness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413248" y="1429207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546750" y="1429207"/>
            <a:ext cx="222199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Use‑case definition &amp; prioritization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413248" y="1619402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546750" y="1619402"/>
            <a:ext cx="149687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 operating model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5413248" y="1809598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546750" y="1809598"/>
            <a:ext cx="20747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Implementation oversight / PMO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5413248" y="2000707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546750" y="2000707"/>
            <a:ext cx="120700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 leadership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5413248" y="2190902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546750" y="2190902"/>
            <a:ext cx="146304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KPI &amp; benefits tracking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13248" y="2381098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5546750" y="2381098"/>
            <a:ext cx="179131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&amp; governance advisory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8683142" y="495605"/>
            <a:ext cx="3286354" cy="2162556"/>
          </a:xfrm>
          <a:prstGeom prst="roundRect">
            <a:avLst>
              <a:gd name="adj" fmla="val 11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693201" y="504749"/>
            <a:ext cx="3267151" cy="39044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9" name="Shape 26"/>
          <p:cNvSpPr/>
          <p:nvPr/>
        </p:nvSpPr>
        <p:spPr>
          <a:xfrm>
            <a:off x="8693201" y="886054"/>
            <a:ext cx="3267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978493" y="580644"/>
            <a:ext cx="30010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 err="1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AIdeology</a:t>
            </a: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Solution Build- Partner</a:t>
            </a:r>
            <a:endParaRPr lang="en-US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8978494" y="1009498"/>
            <a:ext cx="176845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Solution engineering / build</a:t>
            </a:r>
            <a:endParaRPr lang="en-US" sz="1200" dirty="0"/>
          </a:p>
        </p:txBody>
      </p:sp>
      <p:sp>
        <p:nvSpPr>
          <p:cNvPr id="34" name="Shape 31"/>
          <p:cNvSpPr/>
          <p:nvPr/>
        </p:nvSpPr>
        <p:spPr>
          <a:xfrm>
            <a:off x="8845906" y="1200607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978494" y="1200607"/>
            <a:ext cx="770839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8845906" y="1390802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8978494" y="1390802"/>
            <a:ext cx="91897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pipelines</a:t>
            </a:r>
            <a:endParaRPr lang="en-US" sz="1200" dirty="0"/>
          </a:p>
        </p:txBody>
      </p:sp>
      <p:sp>
        <p:nvSpPr>
          <p:cNvPr id="38" name="Shape 35"/>
          <p:cNvSpPr/>
          <p:nvPr/>
        </p:nvSpPr>
        <p:spPr>
          <a:xfrm>
            <a:off x="8845906" y="1580998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978494" y="1580998"/>
            <a:ext cx="182514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GenAI / RAG implementation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8845906" y="1772107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978494" y="1772107"/>
            <a:ext cx="106619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Testing &amp; MLOps</a:t>
            </a:r>
            <a:endParaRPr lang="en-US" sz="1200" dirty="0"/>
          </a:p>
        </p:txBody>
      </p:sp>
      <p:sp>
        <p:nvSpPr>
          <p:cNvPr id="42" name="Shape 39"/>
          <p:cNvSpPr/>
          <p:nvPr/>
        </p:nvSpPr>
        <p:spPr>
          <a:xfrm>
            <a:off x="8845906" y="1962302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8978494" y="1962302"/>
            <a:ext cx="1855676" cy="304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Deployment &amp; runbooks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5251399" y="2809951"/>
            <a:ext cx="3286354" cy="1552651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260543" y="2819095"/>
            <a:ext cx="3267151" cy="39044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6" name="Shape 43"/>
          <p:cNvSpPr/>
          <p:nvPr/>
        </p:nvSpPr>
        <p:spPr>
          <a:xfrm>
            <a:off x="5260543" y="3200400"/>
            <a:ext cx="3267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413248" y="2980944"/>
            <a:ext cx="57607" cy="57607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8" name="Text 45"/>
          <p:cNvSpPr txBox="1"/>
          <p:nvPr/>
        </p:nvSpPr>
        <p:spPr>
          <a:xfrm>
            <a:off x="5546750" y="2895905"/>
            <a:ext cx="183703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success criteria</a:t>
            </a:r>
            <a:endParaRPr lang="en-US" sz="1600" dirty="0"/>
          </a:p>
        </p:txBody>
      </p:sp>
      <p:sp>
        <p:nvSpPr>
          <p:cNvPr id="49" name="Shape 46"/>
          <p:cNvSpPr/>
          <p:nvPr/>
        </p:nvSpPr>
        <p:spPr>
          <a:xfrm>
            <a:off x="5413248" y="3323844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546750" y="3323844"/>
            <a:ext cx="24039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NPS +5–10 points; AHT −15–25%</a:t>
            </a:r>
            <a:endParaRPr lang="en-US" sz="1200" dirty="0"/>
          </a:p>
        </p:txBody>
      </p:sp>
      <p:sp>
        <p:nvSpPr>
          <p:cNvPr id="51" name="Shape 48"/>
          <p:cNvSpPr/>
          <p:nvPr/>
        </p:nvSpPr>
        <p:spPr>
          <a:xfrm>
            <a:off x="5413248" y="3590849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5546750" y="3590849"/>
            <a:ext cx="309524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Cross‑sell uplift +10–20%; retention uplift</a:t>
            </a:r>
            <a:endParaRPr lang="en-US" sz="1200" dirty="0"/>
          </a:p>
        </p:txBody>
      </p:sp>
      <p:sp>
        <p:nvSpPr>
          <p:cNvPr id="53" name="Shape 50"/>
          <p:cNvSpPr/>
          <p:nvPr/>
        </p:nvSpPr>
        <p:spPr>
          <a:xfrm>
            <a:off x="5413248" y="3857854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546750" y="3857854"/>
            <a:ext cx="3208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critical incidents; compliance sign‑off</a:t>
            </a:r>
            <a:endParaRPr lang="en-US" sz="1200" dirty="0"/>
          </a:p>
        </p:txBody>
      </p:sp>
      <p:sp>
        <p:nvSpPr>
          <p:cNvPr id="55" name="Shape 52"/>
          <p:cNvSpPr/>
          <p:nvPr/>
        </p:nvSpPr>
        <p:spPr>
          <a:xfrm>
            <a:off x="8683142" y="2809951"/>
            <a:ext cx="3286354" cy="1552651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8693201" y="2819095"/>
            <a:ext cx="3267151" cy="390449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7" name="Shape 54"/>
          <p:cNvSpPr/>
          <p:nvPr/>
        </p:nvSpPr>
        <p:spPr>
          <a:xfrm>
            <a:off x="8693201" y="3200400"/>
            <a:ext cx="3267151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845906" y="2980944"/>
            <a:ext cx="57607" cy="57607"/>
          </a:xfrm>
          <a:prstGeom prst="rect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8978494" y="2895905"/>
            <a:ext cx="17620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Engagement options</a:t>
            </a:r>
            <a:endParaRPr lang="en-US" sz="1600" dirty="0"/>
          </a:p>
        </p:txBody>
      </p:sp>
      <p:sp>
        <p:nvSpPr>
          <p:cNvPr id="60" name="Shape 57"/>
          <p:cNvSpPr/>
          <p:nvPr/>
        </p:nvSpPr>
        <p:spPr>
          <a:xfrm>
            <a:off x="8845906" y="3323844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8974836" y="3265403"/>
            <a:ext cx="2905963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12‑week rapid pilot (branch + contact center)</a:t>
            </a:r>
            <a:endParaRPr lang="en-US" sz="1200" dirty="0"/>
          </a:p>
        </p:txBody>
      </p:sp>
      <p:sp>
        <p:nvSpPr>
          <p:cNvPr id="62" name="Shape 59"/>
          <p:cNvSpPr/>
          <p:nvPr/>
        </p:nvSpPr>
        <p:spPr>
          <a:xfrm>
            <a:off x="8845906" y="3781044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8978494" y="3696410"/>
            <a:ext cx="248533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Co‑build squad with NCBA teams</a:t>
            </a:r>
            <a:endParaRPr lang="en-US" sz="1200" dirty="0"/>
          </a:p>
        </p:txBody>
      </p:sp>
      <p:sp>
        <p:nvSpPr>
          <p:cNvPr id="64" name="Shape 61"/>
          <p:cNvSpPr/>
          <p:nvPr/>
        </p:nvSpPr>
        <p:spPr>
          <a:xfrm>
            <a:off x="8845906" y="4048049"/>
            <a:ext cx="57607" cy="57607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978494" y="3966667"/>
            <a:ext cx="3072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governance advisory and risk controls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5251399" y="4515307"/>
            <a:ext cx="6715354" cy="895198"/>
          </a:xfrm>
          <a:prstGeom prst="roundRect">
            <a:avLst>
              <a:gd name="adj" fmla="val 6520"/>
            </a:avLst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413248" y="4667098"/>
            <a:ext cx="95098" cy="95098"/>
          </a:xfrm>
          <a:prstGeom prst="ellipse">
            <a:avLst/>
          </a:prstGeom>
          <a:solidFill>
            <a:srgbClr val="45F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8" name="Text 65"/>
          <p:cNvSpPr txBox="1"/>
          <p:nvPr/>
        </p:nvSpPr>
        <p:spPr>
          <a:xfrm>
            <a:off x="5585155" y="4600346"/>
            <a:ext cx="114482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to action</a:t>
            </a:r>
            <a:endParaRPr lang="en-US" sz="1600" dirty="0"/>
          </a:p>
        </p:txBody>
      </p:sp>
      <p:sp>
        <p:nvSpPr>
          <p:cNvPr id="69" name="Text 66"/>
          <p:cNvSpPr txBox="1"/>
          <p:nvPr/>
        </p:nvSpPr>
        <p:spPr>
          <a:xfrm>
            <a:off x="5413248" y="4905756"/>
            <a:ext cx="646755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1182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Arrange for process walkthrough and Agent Demo</a:t>
            </a:r>
            <a:endParaRPr lang="en-US" sz="1200" dirty="0"/>
          </a:p>
        </p:txBody>
      </p:sp>
      <p:sp>
        <p:nvSpPr>
          <p:cNvPr id="70" name="Shape 67"/>
          <p:cNvSpPr/>
          <p:nvPr/>
        </p:nvSpPr>
        <p:spPr>
          <a:xfrm>
            <a:off x="228600" y="6429146"/>
            <a:ext cx="11734495" cy="9144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228600" y="6515100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 info@lumeadvisory.africa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10005365" y="6515100"/>
            <a:ext cx="231891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F293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Web: www.lumeadvisory.africa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14297</TotalTime>
  <Words>457</Words>
  <Application>Microsoft Macintosh PowerPoint</Application>
  <PresentationFormat>Widescreen</PresentationFormat>
  <Paragraphs>79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Microsoft Office User</cp:lastModifiedBy>
  <cp:revision>6</cp:revision>
  <dcterms:created xsi:type="dcterms:W3CDTF">2026-02-06T11:53:49Z</dcterms:created>
  <dcterms:modified xsi:type="dcterms:W3CDTF">2026-05-20T07:02:29Z</dcterms:modified>
</cp:coreProperties>
</file>